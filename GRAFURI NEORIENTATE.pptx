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custDataLst>
    <p:tags r:id="rId14"/>
  </p:custDataLst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BF647-24C9-4B35-9369-A11A1351DC8F}" type="datetimeFigureOut">
              <a:rPr lang="ro-RO" smtClean="0"/>
              <a:t>10.11.2025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647A78-2F84-4C3A-85D4-D776BC72EC4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5873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92DA01-9D04-444D-A3B8-197825E534D8}" type="datetime1">
              <a:rPr lang="ro-RO" smtClean="0"/>
              <a:t>10.11.2025</a:t>
            </a:fld>
            <a:endParaRPr lang="ro-RO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r>
              <a:rPr lang="ro-RO" smtClean="0"/>
              <a:t>GRAFURI NEORIENTATE</a:t>
            </a:r>
            <a:endParaRPr lang="ro-RO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CB03C14-CE0E-4C84-B142-F5704B831A90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76D0823-C290-4AE3-ADD2-10B1D5CE542D}" type="datetime1">
              <a:rPr lang="ro-RO" smtClean="0"/>
              <a:t>10.11.2025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ro-RO" smtClean="0"/>
              <a:t>GRAFURI NEORIENTATE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CB03C14-CE0E-4C84-B142-F5704B831A90}" type="slidenum">
              <a:rPr lang="ro-RO" smtClean="0"/>
              <a:t>‹#›</a:t>
            </a:fld>
            <a:endParaRPr lang="ro-RO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A7152BA-F455-48BF-861B-D41EE587291B}" type="datetime1">
              <a:rPr lang="ro-RO" smtClean="0"/>
              <a:t>10.11.2025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ro-RO" smtClean="0"/>
              <a:t>GRAFURI NEORIENTATE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CB03C14-CE0E-4C84-B142-F5704B831A90}" type="slidenum">
              <a:rPr lang="ro-RO" smtClean="0"/>
              <a:t>‹#›</a:t>
            </a:fld>
            <a:endParaRPr lang="ro-RO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DB68CD4-DF4C-44D0-B03D-18892F5907CD}" type="datetime1">
              <a:rPr lang="ro-RO" smtClean="0"/>
              <a:t>10.11.2025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ro-RO" smtClean="0"/>
              <a:t>GRAFURI NEORIENTATE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CB03C14-CE0E-4C84-B142-F5704B831A90}" type="slidenum">
              <a:rPr lang="ro-RO" smtClean="0"/>
              <a:t>‹#›</a:t>
            </a:fld>
            <a:endParaRPr lang="ro-RO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8CE552B-3A36-4F96-931D-17BD457DAB6C}" type="datetime1">
              <a:rPr lang="ro-RO" smtClean="0"/>
              <a:t>10.11.2025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ro-RO" smtClean="0"/>
              <a:t>GRAFURI NEORIENTATE</a:t>
            </a:r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CB03C14-CE0E-4C84-B142-F5704B831A90}" type="slidenum">
              <a:rPr lang="ro-RO" smtClean="0"/>
              <a:t>‹#›</a:t>
            </a:fld>
            <a:endParaRPr lang="ro-R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40E206-0056-4A66-BF99-5B3567262D4E}" type="datetime1">
              <a:rPr lang="ro-RO" smtClean="0"/>
              <a:t>10.11.2025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ro-RO" smtClean="0"/>
              <a:t>GRAFURI NEORIENTATE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CB03C14-CE0E-4C84-B142-F5704B831A90}" type="slidenum">
              <a:rPr lang="ro-RO" smtClean="0"/>
              <a:t>‹#›</a:t>
            </a:fld>
            <a:endParaRPr lang="ro-RO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7C626AA-E64D-4E9E-945E-A1347FF069A3}" type="datetime1">
              <a:rPr lang="ro-RO" smtClean="0"/>
              <a:t>10.11.2025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ro-RO" smtClean="0"/>
              <a:t>GRAFURI NEORIENTATE</a:t>
            </a:r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CB03C14-CE0E-4C84-B142-F5704B831A90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B80390D6-F4C0-473A-8417-371EE95C15D6}" type="datetime1">
              <a:rPr lang="ro-RO" smtClean="0"/>
              <a:t>10.11.2025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ro-RO" smtClean="0"/>
              <a:t>GRAFURI NEORIENTATE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CB03C14-CE0E-4C84-B142-F5704B831A90}" type="slidenum">
              <a:rPr lang="ro-RO" smtClean="0"/>
              <a:t>‹#›</a:t>
            </a:fld>
            <a:endParaRPr lang="ro-R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340D633-32D0-42C0-B61A-8AAA2F6E938E}" type="datetime1">
              <a:rPr lang="ro-RO" smtClean="0"/>
              <a:t>10.11.2025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ro-RO" smtClean="0"/>
              <a:t>GRAFURI NEORIENTATE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CB03C14-CE0E-4C84-B142-F5704B831A90}" type="slidenum">
              <a:rPr lang="ro-RO" smtClean="0"/>
              <a:t>‹#›</a:t>
            </a:fld>
            <a:endParaRPr lang="ro-RO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9B8CAA9-A91E-4DE7-8E1B-F948332A2509}" type="datetime1">
              <a:rPr lang="ro-RO" smtClean="0"/>
              <a:t>10.11.2025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ro-RO" smtClean="0"/>
              <a:t>GRAFURI NEORIENTATE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CB03C14-CE0E-4C84-B142-F5704B831A90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6035D7E-233F-4766-81F1-513187B71B2A}" type="datetime1">
              <a:rPr lang="ro-RO" smtClean="0"/>
              <a:t>10.11.2025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ro-RO" smtClean="0"/>
              <a:t>GRAFURI NEORIENTATE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CB03C14-CE0E-4C84-B142-F5704B831A90}" type="slidenum">
              <a:rPr lang="ro-RO" smtClean="0"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CFCA5586-645E-45B3-A8AE-CC1EB16FBDA9}" type="datetime1">
              <a:rPr lang="ro-RO" smtClean="0"/>
              <a:t>10.11.2025</a:t>
            </a:fld>
            <a:endParaRPr lang="ro-RO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ro-RO" smtClean="0"/>
              <a:t>GRAFURI NEORIENTATE</a:t>
            </a:r>
            <a:endParaRPr lang="ro-RO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DCB03C14-CE0E-4C84-B142-F5704B831A90}" type="slidenum">
              <a:rPr lang="ro-RO" smtClean="0"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GRAFURI NEORIENTATE</a:t>
            </a:r>
            <a:endParaRPr lang="ro-RO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300244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Un graf neorientat este o pereche ordonată de mulțimi (X,U), unde:</a:t>
            </a:r>
          </a:p>
          <a:p>
            <a:pPr lvl="1"/>
            <a:r>
              <a:rPr lang="ro-RO" dirty="0" smtClean="0"/>
              <a:t>X este o mulțime finită și nevidă de elemente numite </a:t>
            </a:r>
            <a:r>
              <a:rPr lang="ro-RO" b="1" i="1" dirty="0" smtClean="0"/>
              <a:t>noduri sau vârfuri,</a:t>
            </a:r>
          </a:p>
          <a:p>
            <a:pPr lvl="1"/>
            <a:r>
              <a:rPr lang="ro-RO" dirty="0" smtClean="0"/>
              <a:t>U este o mulțime de perechi neordonate, distincte, de elemente din mulțimea X, numite </a:t>
            </a:r>
            <a:r>
              <a:rPr lang="ro-RO" b="1" i="1" dirty="0" smtClean="0"/>
              <a:t>muchii.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GRAFURI NEORIENTATE</a:t>
            </a:r>
            <a:endParaRPr lang="ro-RO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DEFINI</a:t>
            </a:r>
            <a:r>
              <a:rPr lang="ro-RO" dirty="0" smtClean="0"/>
              <a:t>ȚIE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28869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o-RO" dirty="0" smtClean="0"/>
                  <a:t>G=(X,U)</a:t>
                </a:r>
              </a:p>
              <a:p>
                <a:pPr lvl="1"/>
                <a:r>
                  <a:rPr lang="ro-RO" dirty="0" smtClean="0"/>
                  <a:t>X=</a:t>
                </a:r>
                <a:r>
                  <a:rPr lang="en-US" dirty="0" smtClean="0"/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 smtClean="0"/>
                  <a:t>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 smtClean="0"/>
                  <a:t>} reprezint</a:t>
                </a:r>
                <a:r>
                  <a:rPr lang="ro-RO" dirty="0"/>
                  <a:t>ă</a:t>
                </a:r>
                <a:r>
                  <a:rPr lang="en-US" dirty="0" smtClean="0"/>
                  <a:t> </a:t>
                </a:r>
                <a:r>
                  <a:rPr lang="en-US" b="1" i="1" dirty="0" err="1" smtClean="0"/>
                  <a:t>mul</a:t>
                </a:r>
                <a:r>
                  <a:rPr lang="ro-RO" b="1" i="1" dirty="0" smtClean="0"/>
                  <a:t>ț</a:t>
                </a:r>
                <a:r>
                  <a:rPr lang="en-US" b="1" i="1" dirty="0" err="1" smtClean="0"/>
                  <a:t>imea</a:t>
                </a:r>
                <a:r>
                  <a:rPr lang="en-US" b="1" i="1" dirty="0" smtClean="0"/>
                  <a:t> </a:t>
                </a:r>
                <a:r>
                  <a:rPr lang="en-US" b="1" i="1" dirty="0" err="1" smtClean="0"/>
                  <a:t>nodurilor</a:t>
                </a:r>
                <a:r>
                  <a:rPr lang="en-US" b="1" i="1" dirty="0" smtClean="0"/>
                  <a:t> </a:t>
                </a:r>
                <a:r>
                  <a:rPr lang="en-US" b="1" i="1" dirty="0" err="1" smtClean="0"/>
                  <a:t>grafului</a:t>
                </a:r>
                <a:r>
                  <a:rPr lang="en-US" b="1" i="1" dirty="0" smtClean="0"/>
                  <a:t> G</a:t>
                </a:r>
                <a:r>
                  <a:rPr lang="ro-RO" dirty="0" smtClean="0"/>
                  <a:t>,</a:t>
                </a:r>
              </a:p>
              <a:p>
                <a:pPr lvl="1"/>
                <a:r>
                  <a:rPr lang="ro-RO" dirty="0" smtClean="0"/>
                  <a:t>U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mtClean="0"/>
                      <m:t>⊂</m:t>
                    </m:r>
                  </m:oMath>
                </a14:m>
                <a:r>
                  <a:rPr lang="ro-RO" dirty="0" smtClean="0"/>
                  <a:t>X*X este </a:t>
                </a:r>
                <a:r>
                  <a:rPr lang="ro-RO" b="1" i="1" dirty="0" smtClean="0"/>
                  <a:t>mulțimea muchiilor grafului G</a:t>
                </a:r>
                <a:r>
                  <a:rPr lang="ro-RO" dirty="0" smtClean="0"/>
                  <a:t>.</a:t>
                </a:r>
                <a:endParaRPr lang="ro-RO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GRAFURI NEORIENTATE</a:t>
            </a:r>
            <a:endParaRPr lang="ro-RO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o-RO" dirty="0" smtClean="0"/>
              <a:t>NOTAȚIE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733395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950" y="188640"/>
            <a:ext cx="4262874" cy="2664296"/>
          </a:xfrm>
        </p:spPr>
      </p:pic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GRAFURI NEORIENTATE</a:t>
            </a:r>
            <a:endParaRPr lang="ro-RO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o-RO" dirty="0" smtClean="0"/>
              <a:t>EXEMPLU:</a:t>
            </a:r>
            <a:endParaRPr lang="ro-R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/>
              <p:cNvSpPr txBox="1">
                <a:spLocks/>
              </p:cNvSpPr>
              <p:nvPr/>
            </p:nvSpPr>
            <p:spPr>
              <a:xfrm>
                <a:off x="539552" y="3212977"/>
                <a:ext cx="8229600" cy="20882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ro-RO" dirty="0" smtClean="0"/>
                  <a:t>X</a:t>
                </a:r>
                <a:r>
                  <a:rPr lang="en-US" dirty="0" smtClean="0"/>
                  <a:t> </a:t>
                </a:r>
                <a:r>
                  <a:rPr lang="ro-RO" dirty="0" smtClean="0"/>
                  <a:t>=</a:t>
                </a:r>
                <a:r>
                  <a:rPr lang="en-US" dirty="0" smtClean="0"/>
                  <a:t> {1,2,3,4,5} </a:t>
                </a:r>
                <a:r>
                  <a:rPr lang="en-US" dirty="0"/>
                  <a:t>reprezint</a:t>
                </a:r>
                <a:r>
                  <a:rPr lang="ro-RO" dirty="0"/>
                  <a:t>ă</a:t>
                </a:r>
                <a:r>
                  <a:rPr lang="en-US" dirty="0"/>
                  <a:t> </a:t>
                </a:r>
                <a:r>
                  <a:rPr lang="en-US" dirty="0" err="1"/>
                  <a:t>mul</a:t>
                </a:r>
                <a:r>
                  <a:rPr lang="ro-RO" dirty="0"/>
                  <a:t>ț</a:t>
                </a:r>
                <a:r>
                  <a:rPr lang="en-US" dirty="0" err="1"/>
                  <a:t>imea</a:t>
                </a:r>
                <a:r>
                  <a:rPr lang="en-US" dirty="0"/>
                  <a:t> </a:t>
                </a:r>
                <a:r>
                  <a:rPr lang="en-US" dirty="0" err="1"/>
                  <a:t>nodurilor</a:t>
                </a:r>
                <a:r>
                  <a:rPr lang="en-US" dirty="0"/>
                  <a:t> </a:t>
                </a:r>
                <a:r>
                  <a:rPr lang="en-US" dirty="0" err="1"/>
                  <a:t>grafului</a:t>
                </a:r>
                <a:r>
                  <a:rPr lang="en-US" dirty="0"/>
                  <a:t> G</a:t>
                </a:r>
                <a:r>
                  <a:rPr lang="ro-RO" dirty="0"/>
                  <a:t>,</a:t>
                </a:r>
              </a:p>
              <a:p>
                <a:pPr lvl="1"/>
                <a:r>
                  <a:rPr lang="ro-RO" dirty="0" smtClean="0"/>
                  <a:t>U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={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1,2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, 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1,4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, 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1,5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, 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3,5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, 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4,5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}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ro-RO" dirty="0" smtClean="0"/>
                  <a:t>este </a:t>
                </a:r>
                <a:r>
                  <a:rPr lang="ro-RO" dirty="0"/>
                  <a:t>mulțimea muchiilor grafului G</a:t>
                </a:r>
                <a:r>
                  <a:rPr lang="ro-RO" dirty="0" smtClean="0"/>
                  <a:t>.</a:t>
                </a:r>
                <a:endParaRPr lang="en-US" dirty="0" smtClean="0"/>
              </a:p>
              <a:p>
                <a:pPr lvl="1"/>
                <a:endParaRPr lang="ro-RO" dirty="0"/>
              </a:p>
            </p:txBody>
          </p:sp>
        </mc:Choice>
        <mc:Fallback xmlns="">
          <p:sp>
            <p:nvSpPr>
              <p:cNvPr id="12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3212977"/>
                <a:ext cx="8229600" cy="2088232"/>
              </a:xfrm>
              <a:prstGeom prst="rect">
                <a:avLst/>
              </a:prstGeom>
              <a:blipFill rotWithShape="1">
                <a:blip r:embed="rId3"/>
                <a:stretch>
                  <a:fillRect t="-34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632010"/>
              </p:ext>
            </p:extLst>
          </p:nvPr>
        </p:nvGraphicFramePr>
        <p:xfrm>
          <a:off x="2686163" y="5517232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d(x)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-108520" y="2012648"/>
            <a:ext cx="5832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Lant</a:t>
            </a:r>
            <a:r>
              <a:rPr lang="en-US" dirty="0" smtClean="0"/>
              <a:t>: 1,4,5,3</a:t>
            </a:r>
          </a:p>
          <a:p>
            <a:r>
              <a:rPr lang="en-US" dirty="0" err="1" smtClean="0"/>
              <a:t>Lant</a:t>
            </a:r>
            <a:r>
              <a:rPr lang="en-US" dirty="0" smtClean="0"/>
              <a:t> </a:t>
            </a:r>
            <a:r>
              <a:rPr lang="en-US" dirty="0" err="1" smtClean="0"/>
              <a:t>elementar</a:t>
            </a:r>
            <a:r>
              <a:rPr lang="en-US" dirty="0" smtClean="0"/>
              <a:t>: </a:t>
            </a:r>
            <a:r>
              <a:rPr lang="en-US" dirty="0" err="1" smtClean="0"/>
              <a:t>fiecare</a:t>
            </a:r>
            <a:r>
              <a:rPr lang="en-US" dirty="0" smtClean="0"/>
              <a:t> nod </a:t>
            </a:r>
            <a:r>
              <a:rPr lang="en-US" dirty="0" err="1" smtClean="0"/>
              <a:t>apare</a:t>
            </a:r>
            <a:r>
              <a:rPr lang="en-US" dirty="0" smtClean="0"/>
              <a:t> o </a:t>
            </a:r>
            <a:r>
              <a:rPr lang="en-US" dirty="0" err="1" smtClean="0"/>
              <a:t>singura</a:t>
            </a:r>
            <a:r>
              <a:rPr lang="en-US" dirty="0" smtClean="0"/>
              <a:t> data</a:t>
            </a:r>
          </a:p>
          <a:p>
            <a:r>
              <a:rPr lang="en-US" dirty="0" err="1" smtClean="0"/>
              <a:t>Lant</a:t>
            </a:r>
            <a:r>
              <a:rPr lang="en-US" dirty="0" smtClean="0"/>
              <a:t> </a:t>
            </a:r>
            <a:r>
              <a:rPr lang="en-US" dirty="0" err="1" smtClean="0"/>
              <a:t>simplu:fiecare</a:t>
            </a:r>
            <a:r>
              <a:rPr lang="en-US" dirty="0" smtClean="0"/>
              <a:t> </a:t>
            </a:r>
            <a:r>
              <a:rPr lang="en-US" dirty="0" err="1" smtClean="0"/>
              <a:t>muchie</a:t>
            </a:r>
            <a:r>
              <a:rPr lang="en-US" dirty="0" smtClean="0"/>
              <a:t> </a:t>
            </a:r>
            <a:r>
              <a:rPr lang="en-US" dirty="0" err="1" smtClean="0"/>
              <a:t>apare</a:t>
            </a:r>
            <a:r>
              <a:rPr lang="en-US" dirty="0" smtClean="0"/>
              <a:t> o </a:t>
            </a:r>
            <a:r>
              <a:rPr lang="en-US" dirty="0" err="1" smtClean="0"/>
              <a:t>singura</a:t>
            </a:r>
            <a:r>
              <a:rPr lang="en-US" dirty="0" smtClean="0"/>
              <a:t> data</a:t>
            </a:r>
          </a:p>
          <a:p>
            <a:r>
              <a:rPr lang="en-US" dirty="0" err="1" smtClean="0"/>
              <a:t>Ciclu</a:t>
            </a:r>
            <a:r>
              <a:rPr lang="en-US" dirty="0" smtClean="0"/>
              <a:t>: </a:t>
            </a:r>
            <a:r>
              <a:rPr lang="en-US" dirty="0" err="1" smtClean="0"/>
              <a:t>primul</a:t>
            </a:r>
            <a:r>
              <a:rPr lang="en-US" dirty="0" smtClean="0"/>
              <a:t> nod coincide cu </a:t>
            </a:r>
            <a:r>
              <a:rPr lang="en-US" dirty="0" err="1" smtClean="0"/>
              <a:t>ultimul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702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o-RO" b="1" i="1" dirty="0" smtClean="0"/>
                  <a:t>Muchia</a:t>
                </a:r>
                <a:r>
                  <a:rPr lang="ro-RO" dirty="0" smtClean="0"/>
                  <a:t> u=</a:t>
                </a:r>
                <a:r>
                  <a:rPr lang="en-US" dirty="0" smtClean="0"/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 smtClean="0"/>
                  <a:t>], are </a:t>
                </a:r>
                <a:r>
                  <a:rPr lang="en-US" b="1" i="1" dirty="0" err="1" smtClean="0"/>
                  <a:t>extremit</a:t>
                </a:r>
                <a:r>
                  <a:rPr lang="ro-RO" b="1" i="1" dirty="0" smtClean="0"/>
                  <a:t>ățile</a:t>
                </a:r>
                <a:r>
                  <a:rPr lang="ro-RO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:r>
                  <a:rPr lang="ro-RO" dirty="0" smtClean="0"/>
                  <a:t>respectiv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ro-RO"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ro-RO">
                        <a:latin typeface="Cambria Math"/>
                      </a:rPr>
                      <m:t>iar</m:t>
                    </m:r>
                    <m:r>
                      <a:rPr lang="ro-RO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ro-RO">
                        <a:latin typeface="Cambria Math"/>
                      </a:rPr>
                      <m:t>nodurile</m:t>
                    </m:r>
                    <m:r>
                      <a:rPr lang="ro-RO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ro-RO" b="0" i="0" smtClean="0">
                        <a:latin typeface="Cambria Math"/>
                      </a:rPr>
                      <m:t> </m:t>
                    </m:r>
                  </m:oMath>
                </a14:m>
                <a:r>
                  <a:rPr lang="ro-RO" dirty="0" smtClean="0"/>
                  <a:t>sunt </a:t>
                </a:r>
                <a:r>
                  <a:rPr lang="ro-RO" b="1" i="1" dirty="0" smtClean="0"/>
                  <a:t>adiacente(alăturate)</a:t>
                </a:r>
                <a:r>
                  <a:rPr lang="ro-RO" dirty="0" smtClean="0"/>
                  <a:t> </a:t>
                </a:r>
                <a:r>
                  <a:rPr lang="ro-RO" dirty="0" smtClean="0"/>
                  <a:t>în G.</a:t>
                </a:r>
              </a:p>
              <a:p>
                <a:r>
                  <a:rPr lang="ro-RO" dirty="0" smtClean="0"/>
                  <a:t>Muchia u este </a:t>
                </a:r>
                <a:r>
                  <a:rPr lang="ro-RO" b="1" i="1" dirty="0" smtClean="0"/>
                  <a:t>incidentă</a:t>
                </a:r>
                <a:r>
                  <a:rPr lang="ro-RO" dirty="0" smtClean="0"/>
                  <a:t> cu nodurile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dirty="0" smtClean="0"/>
                  <a:t> și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o-RO" dirty="0" smtClean="0"/>
                  <a:t>.</a:t>
                </a:r>
              </a:p>
              <a:p>
                <a:r>
                  <a:rPr lang="ro-RO" dirty="0" smtClean="0"/>
                  <a:t>Două muchii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ro-RO" b="0" i="1" smtClean="0">
                            <a:latin typeface="Cambria Math"/>
                          </a:rPr>
                          <m:t>1, 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ro-RO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dirty="0" smtClean="0"/>
                  <a:t> care au o extremitate comună se numesc </a:t>
                </a:r>
                <a:r>
                  <a:rPr lang="ro-RO" b="1" i="1" dirty="0" smtClean="0"/>
                  <a:t>incidente</a:t>
                </a:r>
                <a:r>
                  <a:rPr lang="ro-RO" dirty="0" smtClean="0"/>
                  <a:t>.</a:t>
                </a:r>
                <a:endParaRPr lang="ro-RO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GRAFURI NEORIENTATE</a:t>
            </a:r>
            <a:endParaRPr lang="ro-RO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DEFINI</a:t>
            </a:r>
            <a:r>
              <a:rPr lang="ro-RO" dirty="0" smtClean="0"/>
              <a:t>ȚII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757011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23528" y="3429000"/>
                <a:ext cx="8229600" cy="4525963"/>
              </a:xfrm>
            </p:spPr>
            <p:txBody>
              <a:bodyPr/>
              <a:lstStyle/>
              <a:p>
                <a:r>
                  <a:rPr lang="ro-RO" dirty="0" smtClean="0"/>
                  <a:t>Un graf G</a:t>
                </a:r>
                <a:r>
                  <a:rPr lang="ro-RO" baseline="-25000" dirty="0" smtClean="0"/>
                  <a:t>1</a:t>
                </a:r>
                <a:r>
                  <a:rPr lang="ro-RO" dirty="0" smtClean="0"/>
                  <a:t> = (X,V), unde V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mtClean="0"/>
                      <m:t>⊂</m:t>
                    </m:r>
                  </m:oMath>
                </a14:m>
                <a:r>
                  <a:rPr lang="ro-RO" dirty="0" smtClean="0"/>
                  <a:t>U este un </a:t>
                </a:r>
                <a:r>
                  <a:rPr lang="ro-RO" b="1" i="1" dirty="0" smtClean="0"/>
                  <a:t>graf parțial</a:t>
                </a:r>
                <a:r>
                  <a:rPr lang="ro-RO" dirty="0" smtClean="0"/>
                  <a:t> al grafului neorientat G=(X,U). </a:t>
                </a:r>
              </a:p>
              <a:p>
                <a:r>
                  <a:rPr lang="ro-RO" dirty="0" smtClean="0"/>
                  <a:t>Un graf parțial se obține dintr-un graf prin eliminarea mai multor muchii.</a:t>
                </a:r>
              </a:p>
              <a:p>
                <a:pPr marL="109728" indent="0">
                  <a:buNone/>
                </a:pPr>
                <a:endParaRPr lang="ro-RO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3429000"/>
                <a:ext cx="8229600" cy="4525963"/>
              </a:xfrm>
              <a:blipFill rotWithShape="1">
                <a:blip r:embed="rId2"/>
                <a:stretch>
                  <a:fillRect t="-94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GRAFURI NEORIENTATE</a:t>
            </a:r>
            <a:endParaRPr lang="ro-RO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o-RO" dirty="0" smtClean="0"/>
              <a:t>GRAF PARȚIAL</a:t>
            </a:r>
            <a:endParaRPr lang="ro-RO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260648"/>
            <a:ext cx="4032448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436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539552" y="2708920"/>
                <a:ext cx="8229600" cy="3243816"/>
              </a:xfrm>
            </p:spPr>
            <p:txBody>
              <a:bodyPr/>
              <a:lstStyle/>
              <a:p>
                <a:r>
                  <a:rPr lang="en-US" dirty="0" smtClean="0"/>
                  <a:t>Un </a:t>
                </a:r>
                <a:r>
                  <a:rPr lang="en-US" dirty="0" err="1" smtClean="0"/>
                  <a:t>graf</a:t>
                </a:r>
                <a:r>
                  <a:rPr lang="en-US" dirty="0" smtClean="0"/>
                  <a:t> H=(Y,V) </a:t>
                </a:r>
                <a:r>
                  <a:rPr lang="en-US" dirty="0" err="1" smtClean="0"/>
                  <a:t>este</a:t>
                </a:r>
                <a:r>
                  <a:rPr lang="en-US" dirty="0" smtClean="0"/>
                  <a:t> un </a:t>
                </a:r>
                <a:r>
                  <a:rPr lang="en-US" dirty="0" err="1" smtClean="0"/>
                  <a:t>subgraf</a:t>
                </a:r>
                <a:r>
                  <a:rPr lang="en-US" dirty="0" smtClean="0"/>
                  <a:t> al </a:t>
                </a:r>
                <a:r>
                  <a:rPr lang="en-US" dirty="0" err="1" smtClean="0"/>
                  <a:t>unui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graf</a:t>
                </a:r>
                <a:r>
                  <a:rPr lang="en-US" dirty="0" smtClean="0"/>
                  <a:t> G=(X,U) </a:t>
                </a:r>
                <a:r>
                  <a:rPr lang="en-US" dirty="0" err="1" smtClean="0"/>
                  <a:t>dac</a:t>
                </a:r>
                <a:r>
                  <a:rPr lang="ro-RO" dirty="0" smtClean="0"/>
                  <a:t>ă Y</a:t>
                </a:r>
                <a:r>
                  <a:rPr lang="ro-RO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/>
                      <m:t>⊂</m:t>
                    </m:r>
                  </m:oMath>
                </a14:m>
                <a:r>
                  <a:rPr lang="ro-RO" dirty="0" smtClean="0"/>
                  <a:t> X și V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/>
                      <m:t>⊂</m:t>
                    </m:r>
                  </m:oMath>
                </a14:m>
                <a:r>
                  <a:rPr lang="ro-RO" dirty="0" smtClean="0"/>
                  <a:t> U, iar V conține numai muchiile din U care au ambele extremități în Y.</a:t>
                </a:r>
              </a:p>
              <a:p>
                <a:r>
                  <a:rPr lang="ro-RO" dirty="0" smtClean="0"/>
                  <a:t>Un subgraf se obține dintr-un graf prin eliminarea unor noduri și a muchiilor incidente.</a:t>
                </a:r>
                <a:endParaRPr lang="ro-RO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552" y="2708920"/>
                <a:ext cx="8229600" cy="3243816"/>
              </a:xfrm>
              <a:blipFill rotWithShape="1">
                <a:blip r:embed="rId2"/>
                <a:stretch>
                  <a:fillRect t="-1692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GRAFURI NEORIENTATE</a:t>
            </a:r>
            <a:endParaRPr lang="ro-RO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SUBGRAF</a:t>
            </a:r>
            <a:endParaRPr lang="ro-RO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188640"/>
            <a:ext cx="3969702" cy="248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808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Gradul unui nod = numărul de muchii incidente cu acel nod.</a:t>
            </a:r>
          </a:p>
          <a:p>
            <a:r>
              <a:rPr lang="ro-RO" dirty="0" smtClean="0"/>
              <a:t>Notație: d(x).</a:t>
            </a:r>
          </a:p>
          <a:p>
            <a:r>
              <a:rPr lang="ro-RO" dirty="0" smtClean="0"/>
              <a:t>Nod izolat = nod care are gradul 0.</a:t>
            </a:r>
          </a:p>
          <a:p>
            <a:r>
              <a:rPr lang="ro-RO" dirty="0" smtClean="0"/>
              <a:t>Nod terminal = nod care are gradul 1.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GRAFURI NEORIENTATE</a:t>
            </a:r>
            <a:endParaRPr lang="ro-RO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GRADUL UNUI NOD		</a:t>
            </a:r>
            <a:endParaRPr lang="ro-R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1043608" y="4077072"/>
                <a:ext cx="6696744" cy="1152128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ro-RO" u="sng" dirty="0" smtClean="0">
                    <a:solidFill>
                      <a:schemeClr val="tx1"/>
                    </a:solidFill>
                  </a:rPr>
                  <a:t>Propoziție: </a:t>
                </a:r>
                <a:r>
                  <a:rPr lang="ro-RO" dirty="0" smtClean="0">
                    <a:solidFill>
                      <a:schemeClr val="tx1"/>
                    </a:solidFill>
                  </a:rPr>
                  <a:t>un gra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f</a:t>
                </a:r>
                <a:r>
                  <a:rPr lang="ro-RO" dirty="0" smtClean="0">
                    <a:solidFill>
                      <a:schemeClr val="tx1"/>
                    </a:solidFill>
                  </a:rPr>
                  <a:t> G= (X,U) cu n noduri și m muchii are suma gradelor:</a:t>
                </a:r>
              </a:p>
              <a:p>
                <a:pPr algn="ctr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ro-RO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ro-RO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ro-RO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ro-RO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sup>
                      <m:e>
                        <m:r>
                          <a:rPr lang="ro-RO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𝑑</m:t>
                        </m:r>
                        <m:r>
                          <a:rPr lang="ro-RO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ro-RO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ro-RO" dirty="0" smtClean="0">
                    <a:solidFill>
                      <a:schemeClr val="tx1"/>
                    </a:solidFill>
                  </a:rPr>
                  <a:t>) = 2*m</a:t>
                </a:r>
                <a:endParaRPr lang="ro-RO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4077072"/>
                <a:ext cx="6696744" cy="1152128"/>
              </a:xfrm>
              <a:prstGeom prst="roundRect">
                <a:avLst/>
              </a:prstGeom>
              <a:blipFill rotWithShape="1">
                <a:blip r:embed="rId2"/>
                <a:stretch>
                  <a:fillRect b="-43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570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o-RO" dirty="0" smtClean="0"/>
              <a:t>Fie un graf G=(X,U)</a:t>
            </a:r>
          </a:p>
          <a:p>
            <a:r>
              <a:rPr lang="ro-RO" dirty="0" smtClean="0"/>
              <a:t>Lanț = succesiune de noduri cu proprietatea că oricare două noduri consecutive sunt adiacente.</a:t>
            </a:r>
          </a:p>
          <a:p>
            <a:r>
              <a:rPr lang="ro-RO" dirty="0" smtClean="0"/>
              <a:t>Lungimea unui lanț = numărul de muchii din care este format.</a:t>
            </a:r>
          </a:p>
          <a:p>
            <a:r>
              <a:rPr lang="ro-RO" dirty="0" smtClean="0"/>
              <a:t>Lanț simplu = lanț care conține numai muchii distincte.</a:t>
            </a:r>
          </a:p>
          <a:p>
            <a:r>
              <a:rPr lang="ro-RO" dirty="0" smtClean="0"/>
              <a:t>Lanț compus = lanț care nu este format doar din muchii distincte.</a:t>
            </a:r>
          </a:p>
          <a:p>
            <a:r>
              <a:rPr lang="ro-RO" dirty="0" smtClean="0"/>
              <a:t>Lanț elementar = lanț format doar din noduri distincte.</a:t>
            </a:r>
          </a:p>
          <a:p>
            <a:r>
              <a:rPr lang="ro-RO" dirty="0" smtClean="0"/>
              <a:t>Ciclu = lanț simplu în care primul nod coincide cu ultimul.</a:t>
            </a:r>
          </a:p>
          <a:p>
            <a:r>
              <a:rPr lang="ro-RO" dirty="0" smtClean="0"/>
              <a:t>Ciclu elementar = ciclu format doar din noduri distincte (cu excepția primului și ultimului nod).</a:t>
            </a:r>
          </a:p>
          <a:p>
            <a:r>
              <a:rPr lang="ro-RO" dirty="0" smtClean="0"/>
              <a:t>!!! Lungimea unui ciclu nu poate fi 2.</a:t>
            </a:r>
          </a:p>
          <a:p>
            <a:endParaRPr lang="ro-RO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GRAFURI NEORIENTATE</a:t>
            </a:r>
            <a:endParaRPr lang="ro-RO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DEFINIȚII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9586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467544" y="3068960"/>
                <a:ext cx="8229600" cy="2667752"/>
              </a:xfrm>
            </p:spPr>
            <p:txBody>
              <a:bodyPr/>
              <a:lstStyle/>
              <a:p>
                <a:r>
                  <a:rPr lang="ro-RO" dirty="0" smtClean="0"/>
                  <a:t>Graf complet = graf cu proprietatea că oricare două noduri sunt adiacente</a:t>
                </a:r>
              </a:p>
              <a:p>
                <a:r>
                  <a:rPr lang="ro-RO" dirty="0" smtClean="0"/>
                  <a:t>Un graf complet se notează K</a:t>
                </a:r>
                <a:r>
                  <a:rPr lang="ro-RO" baseline="-25000" dirty="0" smtClean="0"/>
                  <a:t>n</a:t>
                </a:r>
                <a:r>
                  <a:rPr lang="ro-RO" dirty="0" smtClean="0"/>
                  <a:t>.</a:t>
                </a:r>
              </a:p>
              <a:p>
                <a:r>
                  <a:rPr lang="ro-RO" dirty="0" smtClean="0"/>
                  <a:t>Un graf complet are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o-RO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b="0" i="1" smtClean="0">
                            <a:latin typeface="Cambria Math"/>
                          </a:rPr>
                          <m:t>𝑛</m:t>
                        </m:r>
                        <m:r>
                          <a:rPr lang="ro-RO" b="0" i="1" smtClean="0">
                            <a:latin typeface="Cambria Math"/>
                          </a:rPr>
                          <m:t>∗(</m:t>
                        </m:r>
                        <m:r>
                          <a:rPr lang="ro-RO" b="0" i="1" smtClean="0">
                            <a:latin typeface="Cambria Math"/>
                          </a:rPr>
                          <m:t>𝑛</m:t>
                        </m:r>
                        <m:r>
                          <a:rPr lang="ro-RO" b="0" i="1" smtClean="0">
                            <a:latin typeface="Cambria Math"/>
                          </a:rPr>
                          <m:t>−1)</m:t>
                        </m:r>
                      </m:num>
                      <m:den>
                        <m:r>
                          <a:rPr lang="ro-RO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ro-RO" dirty="0" smtClean="0"/>
                  <a:t> muchii.</a:t>
                </a:r>
                <a:endParaRPr lang="en-US" dirty="0" smtClean="0"/>
              </a:p>
              <a:p>
                <a:r>
                  <a:rPr lang="en-US" dirty="0" smtClean="0"/>
                  <a:t>4+3+2+1</a:t>
                </a:r>
                <a:endParaRPr lang="ro-RO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44" y="3068960"/>
                <a:ext cx="8229600" cy="2667752"/>
              </a:xfrm>
              <a:blipFill rotWithShape="1">
                <a:blip r:embed="rId2"/>
                <a:stretch>
                  <a:fillRect t="-2055" r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GRAFURI NEORIENTATE</a:t>
            </a:r>
            <a:endParaRPr lang="ro-RO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GRAF COMPLET</a:t>
            </a:r>
            <a:endParaRPr lang="ro-RO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188640"/>
            <a:ext cx="3854490" cy="2409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76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395536" y="2492896"/>
                <a:ext cx="8229600" cy="3168352"/>
              </a:xfrm>
            </p:spPr>
            <p:txBody>
              <a:bodyPr/>
              <a:lstStyle/>
              <a:p>
                <a:r>
                  <a:rPr lang="ro-RO" dirty="0" smtClean="0"/>
                  <a:t>Un graf G=(X,U) se numește bipartit dacă există două mulțimi X</a:t>
                </a:r>
                <a:r>
                  <a:rPr lang="ro-RO" baseline="-25000" dirty="0" smtClean="0"/>
                  <a:t>1</a:t>
                </a:r>
                <a:r>
                  <a:rPr lang="ro-RO" dirty="0" smtClean="0"/>
                  <a:t> și X</a:t>
                </a:r>
                <a:r>
                  <a:rPr lang="ro-RO" baseline="-25000" dirty="0" smtClean="0"/>
                  <a:t>2</a:t>
                </a:r>
                <a:r>
                  <a:rPr lang="ro-RO" dirty="0" smtClean="0"/>
                  <a:t> astfel încât X=X</a:t>
                </a:r>
                <a:r>
                  <a:rPr lang="ro-RO" baseline="-25000" dirty="0" smtClean="0"/>
                  <a:t>1</a:t>
                </a:r>
                <a14:m>
                  <m:oMath xmlns:m="http://schemas.openxmlformats.org/officeDocument/2006/math">
                    <m:r>
                      <a:rPr lang="ro-RO" i="1" smtClean="0">
                        <a:latin typeface="Cambria Math"/>
                        <a:ea typeface="Cambria Math"/>
                      </a:rPr>
                      <m:t>∪</m:t>
                    </m:r>
                  </m:oMath>
                </a14:m>
                <a:r>
                  <a:rPr lang="ro-RO" dirty="0" smtClean="0"/>
                  <a:t> X</a:t>
                </a:r>
                <a:r>
                  <a:rPr lang="ro-RO" baseline="-25000" dirty="0"/>
                  <a:t>2</a:t>
                </a:r>
                <a:r>
                  <a:rPr lang="ro-RO" dirty="0" smtClean="0"/>
                  <a:t> și   X</a:t>
                </a:r>
                <a:r>
                  <a:rPr lang="ro-RO" baseline="-25000" dirty="0" smtClean="0"/>
                  <a:t>1</a:t>
                </a:r>
                <a14:m>
                  <m:oMath xmlns:m="http://schemas.openxmlformats.org/officeDocument/2006/math">
                    <m:r>
                      <a:rPr lang="ro-RO" i="1" smtClean="0">
                        <a:latin typeface="Cambria Math"/>
                        <a:ea typeface="Cambria Math"/>
                      </a:rPr>
                      <m:t>∩</m:t>
                    </m:r>
                  </m:oMath>
                </a14:m>
                <a:r>
                  <a:rPr lang="ro-RO" baseline="-25000" dirty="0" smtClean="0"/>
                  <a:t> </a:t>
                </a:r>
                <a:r>
                  <a:rPr lang="ro-RO" dirty="0" smtClean="0"/>
                  <a:t>X</a:t>
                </a:r>
                <a:r>
                  <a:rPr lang="ro-RO" baseline="-25000" dirty="0" smtClean="0"/>
                  <a:t>2</a:t>
                </a:r>
                <a:r>
                  <a:rPr lang="ro-RO" dirty="0" smtClean="0"/>
                  <a:t>=</a:t>
                </a:r>
                <a14:m>
                  <m:oMath xmlns:m="http://schemas.openxmlformats.org/officeDocument/2006/math">
                    <m:r>
                      <a:rPr lang="ro-RO" i="1" dirty="0" smtClean="0">
                        <a:latin typeface="Cambria Math"/>
                        <a:ea typeface="Cambria Math"/>
                      </a:rPr>
                      <m:t>∅</m:t>
                    </m:r>
                    <m:r>
                      <a:rPr lang="ro-RO" b="0" i="1" dirty="0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ro-RO" dirty="0" smtClean="0"/>
                  <a:t>și oricare muchie u a lui G are o extremitate în X</a:t>
                </a:r>
                <a:r>
                  <a:rPr lang="ro-RO" baseline="-25000" dirty="0"/>
                  <a:t>1</a:t>
                </a:r>
                <a:r>
                  <a:rPr lang="ro-RO" dirty="0" smtClean="0"/>
                  <a:t> și cealaltă în X</a:t>
                </a:r>
                <a:r>
                  <a:rPr lang="ro-RO" baseline="-25000" dirty="0" smtClean="0"/>
                  <a:t>2.</a:t>
                </a:r>
              </a:p>
              <a:p>
                <a:r>
                  <a:rPr lang="ro-RO" dirty="0" smtClean="0"/>
                  <a:t>Un graf bipartit se numește complet dacă pentru oricare x</a:t>
                </a:r>
                <a:r>
                  <a:rPr lang="en-US" baseline="-25000" dirty="0" err="1" smtClean="0"/>
                  <a:t>i</a:t>
                </a:r>
                <a:r>
                  <a:rPr lang="ro-RO" dirty="0" smtClean="0"/>
                  <a:t> din X</a:t>
                </a:r>
                <a:r>
                  <a:rPr lang="ro-RO" baseline="-25000" dirty="0"/>
                  <a:t>1</a:t>
                </a:r>
                <a:r>
                  <a:rPr lang="ro-RO" dirty="0" smtClean="0"/>
                  <a:t> și </a:t>
                </a:r>
                <a:r>
                  <a:rPr lang="en-US" dirty="0" err="1" smtClean="0"/>
                  <a:t>x</a:t>
                </a:r>
                <a:r>
                  <a:rPr lang="en-US" baseline="-25000" dirty="0" err="1" smtClean="0"/>
                  <a:t>j</a:t>
                </a:r>
                <a:r>
                  <a:rPr lang="ro-RO" dirty="0" smtClean="0"/>
                  <a:t> din X</a:t>
                </a:r>
                <a:r>
                  <a:rPr lang="ro-RO" baseline="-25000" dirty="0"/>
                  <a:t>2</a:t>
                </a:r>
                <a:r>
                  <a:rPr lang="ro-RO" dirty="0" smtClean="0"/>
                  <a:t> există muchia </a:t>
                </a:r>
                <a:r>
                  <a:rPr lang="en-US" dirty="0" smtClean="0"/>
                  <a:t>[x</a:t>
                </a:r>
                <a:r>
                  <a:rPr lang="en-US" baseline="-25000" dirty="0"/>
                  <a:t> </a:t>
                </a:r>
                <a:r>
                  <a:rPr lang="en-US" baseline="-25000" dirty="0" err="1"/>
                  <a:t>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x</a:t>
                </a:r>
                <a:r>
                  <a:rPr lang="en-US" baseline="-25000" dirty="0" err="1"/>
                  <a:t>j</a:t>
                </a:r>
                <a:r>
                  <a:rPr lang="en-US" dirty="0" smtClean="0"/>
                  <a:t>]</a:t>
                </a:r>
                <a:endParaRPr lang="ro-RO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536" y="2492896"/>
                <a:ext cx="8229600" cy="3168352"/>
              </a:xfrm>
              <a:blipFill rotWithShape="1">
                <a:blip r:embed="rId2"/>
                <a:stretch>
                  <a:fillRect t="-1731" b="-38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GRAFURI NEORIENTATE</a:t>
            </a:r>
            <a:endParaRPr lang="ro-RO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GRAF BIPARTIT</a:t>
            </a:r>
            <a:endParaRPr lang="ro-RO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-33278"/>
            <a:ext cx="4294426" cy="268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816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8ce696e9412443ecc57c32ed4796326ae4778a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320</TotalTime>
  <Words>499</Words>
  <Application>Microsoft Office PowerPoint</Application>
  <PresentationFormat>On-screen Show (4:3)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Cambria Math</vt:lpstr>
      <vt:lpstr>Lucida Sans Unicode</vt:lpstr>
      <vt:lpstr>Verdana</vt:lpstr>
      <vt:lpstr>Wingdings 2</vt:lpstr>
      <vt:lpstr>Wingdings 3</vt:lpstr>
      <vt:lpstr>Concourse</vt:lpstr>
      <vt:lpstr>GRAFURI NEORIENTATE</vt:lpstr>
      <vt:lpstr>DEFINIȚIE</vt:lpstr>
      <vt:lpstr>NOTAȚIE</vt:lpstr>
      <vt:lpstr>EXEMPLU:</vt:lpstr>
      <vt:lpstr>DEFINIȚII</vt:lpstr>
      <vt:lpstr>GRAF PARȚIAL</vt:lpstr>
      <vt:lpstr>SUBGRAF</vt:lpstr>
      <vt:lpstr>GRADUL UNUI NOD  </vt:lpstr>
      <vt:lpstr>DEFINIȚII</vt:lpstr>
      <vt:lpstr>GRAF COMPLET</vt:lpstr>
      <vt:lpstr>GRAF BIPARTIT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GRAFURI NEORIENTATE</dc:title>
  <dc:creator>luk</dc:creator>
  <cp:lastModifiedBy>elev</cp:lastModifiedBy>
  <cp:revision>16</cp:revision>
  <dcterms:created xsi:type="dcterms:W3CDTF">2012-03-23T13:03:09Z</dcterms:created>
  <dcterms:modified xsi:type="dcterms:W3CDTF">2025-11-10T06:37:17Z</dcterms:modified>
</cp:coreProperties>
</file>